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365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2D82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143000"/>
            <a:ext cx="10607040" cy="59436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ctr">
              <a:defRPr sz="2900" b="1">
                <a:solidFill>
                  <a:srgbClr val="FFFFFF"/>
                </a:solidFill>
                <a:latin typeface="Aptos"/>
              </a:defRPr>
            </a:pPr>
            <a:r>
              <a:t>CYBERSECURITY INVESTIGATION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965960"/>
            <a:ext cx="10332720" cy="68580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ctr">
              <a:defRPr sz="2200" b="1">
                <a:solidFill>
                  <a:srgbClr val="C8E0EE"/>
                </a:solidFill>
                <a:latin typeface="Aptos"/>
              </a:defRPr>
            </a:pPr>
            <a:r>
              <a:t>CASE FILE: THE COMPROMISED STUDENT ACCOUNT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0" y="3154680"/>
            <a:ext cx="6675120" cy="50292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  <a:latin typeface="Aptos"/>
              </a:defRPr>
            </a:pPr>
            <a:r>
              <a:t>Prepared by: Abidoye Temitayo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3703320"/>
            <a:ext cx="6675120" cy="41148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ctr">
              <a:defRPr sz="1600" b="0">
                <a:solidFill>
                  <a:srgbClr val="C8E0EE"/>
                </a:solidFill>
                <a:latin typeface="Aptos"/>
              </a:defRPr>
            </a:pPr>
            <a:r>
              <a:t>Course: Intro to Cybersecurity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4937760"/>
            <a:ext cx="9418320" cy="54864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PHISHING  •  EVIDENCE  •  INCIDENT RESPONSE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defRPr sz="2700" b="1">
                <a:solidFill>
                  <a:srgbClr val="173654"/>
                </a:solidFill>
                <a:latin typeface="Aptos"/>
              </a:defRPr>
            </a:pPr>
            <a:r>
              <a:t>1. Incident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68680"/>
            <a:ext cx="10972800" cy="36576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defRPr sz="1200" b="0">
                <a:solidFill>
                  <a:srgbClr val="647382"/>
                </a:solidFill>
                <a:latin typeface="Aptos"/>
              </a:defRPr>
            </a:pPr>
            <a:r>
              <a:t>What happened to Daniel?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98448"/>
            <a:ext cx="1051560" cy="54864"/>
          </a:xfrm>
          <a:prstGeom prst="rect">
            <a:avLst/>
          </a:prstGeom>
          <a:solidFill>
            <a:srgbClr val="2D82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64240" y="6473952"/>
            <a:ext cx="548640" cy="18288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r">
              <a:defRPr sz="900" b="0">
                <a:solidFill>
                  <a:srgbClr val="647382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691640"/>
            <a:ext cx="5303520" cy="3474720"/>
          </a:xfrm>
          <a:prstGeom prst="roundRect">
            <a:avLst/>
          </a:prstGeom>
          <a:solidFill>
            <a:srgbClr val="EFF5FA"/>
          </a:solidFill>
          <a:ln>
            <a:solidFill>
              <a:srgbClr val="DC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1828800"/>
            <a:ext cx="4901183" cy="347472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defRPr sz="1700" b="1">
                <a:solidFill>
                  <a:srgbClr val="235274"/>
                </a:solidFill>
                <a:latin typeface="Aptos"/>
              </a:defRPr>
            </a:pPr>
            <a:r>
              <a:t>THE INCIDENT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2258568"/>
            <a:ext cx="4901183" cy="2779776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defRPr sz="1800" b="0">
                <a:solidFill>
                  <a:srgbClr val="2D3741"/>
                </a:solidFill>
                <a:latin typeface="Aptos"/>
              </a:defRPr>
            </a:pPr>
            <a:r>
              <a:t>Daniel received an urgent email claiming his mailbox would be suspended unless he verified his account. He followed the link and entered his credentials on the website.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91640"/>
            <a:ext cx="5303520" cy="3474720"/>
          </a:xfrm>
          <a:prstGeom prst="roundRect">
            <a:avLst/>
          </a:prstGeom>
          <a:solidFill>
            <a:srgbClr val="F5F8FB"/>
          </a:solidFill>
          <a:ln>
            <a:solidFill>
              <a:srgbClr val="DC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19088" y="1828800"/>
            <a:ext cx="4901183" cy="347472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defRPr sz="1700" b="1">
                <a:solidFill>
                  <a:srgbClr val="235274"/>
                </a:solidFill>
                <a:latin typeface="Aptos"/>
              </a:defRPr>
            </a:pPr>
            <a:r>
              <a:t>WHAT HAPPENED NEXT?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19088" y="2258568"/>
            <a:ext cx="4901183" cy="2779776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defRPr sz="1800" b="0">
                <a:solidFill>
                  <a:srgbClr val="2D3741"/>
                </a:solidFill>
                <a:latin typeface="Aptos"/>
              </a:defRPr>
            </a:pPr>
            <a:r>
              <a:t>Later, Daniel received an unexpected sign-in notification. Members then reported unusual messages sent from his account, suggesting possible unauthorized use.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5623560"/>
            <a:ext cx="10607040" cy="41148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ctr">
              <a:defRPr sz="1500" b="1">
                <a:solidFill>
                  <a:srgbClr val="235274"/>
                </a:solidFill>
                <a:latin typeface="Aptos"/>
              </a:defRPr>
            </a:pPr>
            <a:r>
              <a:t>Investigation principle: distinguish confirmed facts from reasonable assumptions.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defRPr sz="2700" b="1">
                <a:solidFill>
                  <a:srgbClr val="173654"/>
                </a:solidFill>
                <a:latin typeface="Aptos"/>
              </a:defRPr>
            </a:pPr>
            <a:r>
              <a:t>2. Likely Attack &amp; Warning Signs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68680"/>
            <a:ext cx="10972800" cy="36576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defRPr sz="1200" b="0">
                <a:solidFill>
                  <a:srgbClr val="647382"/>
                </a:solidFill>
                <a:latin typeface="Aptos"/>
              </a:defRPr>
            </a:pPr>
            <a:r>
              <a:t>Phishing carried out through social engineering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98448"/>
            <a:ext cx="1051560" cy="54864"/>
          </a:xfrm>
          <a:prstGeom prst="rect">
            <a:avLst/>
          </a:prstGeom>
          <a:solidFill>
            <a:srgbClr val="2D82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64240" y="6473952"/>
            <a:ext cx="548640" cy="18288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r">
              <a:defRPr sz="900" b="0">
                <a:solidFill>
                  <a:srgbClr val="647382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645920"/>
            <a:ext cx="5212080" cy="4251960"/>
          </a:xfrm>
          <a:prstGeom prst="roundRect">
            <a:avLst/>
          </a:prstGeom>
          <a:solidFill>
            <a:srgbClr val="EFF5FA"/>
          </a:solidFill>
          <a:ln>
            <a:solidFill>
              <a:srgbClr val="DC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1783080"/>
            <a:ext cx="4809744" cy="347472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defRPr sz="1700" b="1">
                <a:solidFill>
                  <a:srgbClr val="235274"/>
                </a:solidFill>
                <a:latin typeface="Aptos"/>
              </a:defRPr>
            </a:pPr>
            <a:r>
              <a:t>LIKELY ATTACK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2212848"/>
            <a:ext cx="4809744" cy="3557016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defRPr sz="1700" b="0">
                <a:solidFill>
                  <a:srgbClr val="2D3741"/>
                </a:solidFill>
                <a:latin typeface="Aptos"/>
              </a:defRPr>
            </a:pPr>
            <a:r>
              <a:t>Phishing uses deceptive messages to trick people into revealing information. In this case, urgency and fear were used to persuade Daniel to disclose his login credentials.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1691640"/>
            <a:ext cx="5120640" cy="36576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defRPr sz="1700" b="1">
                <a:solidFill>
                  <a:srgbClr val="235274"/>
                </a:solidFill>
                <a:latin typeface="Aptos"/>
              </a:defRPr>
            </a:pPr>
            <a:r>
              <a:t>THREE STRONGEST CLUES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63640" y="2194560"/>
            <a:ext cx="5120640" cy="34747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1500"/>
              </a:spcAft>
              <a:defRPr sz="1700">
                <a:solidFill>
                  <a:srgbClr val="2D3741"/>
                </a:solidFill>
                <a:latin typeface="Aptos"/>
              </a:defRPr>
            </a:pPr>
            <a:r>
              <a:t>Threat of mailbox suspension created urgency.</a:t>
            </a:r>
          </a:p>
          <a:p>
            <a:pPr>
              <a:spcAft>
                <a:spcPts val="1500"/>
              </a:spcAft>
              <a:defRPr sz="1700">
                <a:solidFill>
                  <a:srgbClr val="2D3741"/>
                </a:solidFill>
                <a:latin typeface="Aptos"/>
              </a:defRPr>
            </a:pPr>
            <a:r>
              <a:t>Unexpected sign-in notification followed credential entry.</a:t>
            </a:r>
          </a:p>
          <a:p>
            <a:pPr>
              <a:spcAft>
                <a:spcPts val="1500"/>
              </a:spcAft>
              <a:defRPr sz="1700">
                <a:solidFill>
                  <a:srgbClr val="2D3741"/>
                </a:solidFill>
                <a:latin typeface="Aptos"/>
              </a:defRPr>
            </a:pPr>
            <a:r>
              <a:t>Unusual messages were sent from Daniel’s account.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6080760"/>
            <a:ext cx="10515600" cy="27432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ctr">
              <a:defRPr sz="1300" b="0">
                <a:solidFill>
                  <a:srgbClr val="647382"/>
                </a:solidFill>
                <a:latin typeface="Aptos"/>
              </a:defRPr>
            </a:pPr>
            <a:r>
              <a:t>The website’s legitimacy still needs to be confirmed.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defRPr sz="2700" b="1">
                <a:solidFill>
                  <a:srgbClr val="173654"/>
                </a:solidFill>
                <a:latin typeface="Aptos"/>
              </a:defRPr>
            </a:pPr>
            <a:r>
              <a:t>3. Incident Timeline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68680"/>
            <a:ext cx="10972800" cy="36576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defRPr sz="1200" b="0">
                <a:solidFill>
                  <a:srgbClr val="647382"/>
                </a:solidFill>
                <a:latin typeface="Aptos"/>
              </a:defRPr>
            </a:pPr>
            <a:r>
              <a:t>Current evidence supports this sequence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98448"/>
            <a:ext cx="1051560" cy="54864"/>
          </a:xfrm>
          <a:prstGeom prst="rect">
            <a:avLst/>
          </a:prstGeom>
          <a:solidFill>
            <a:srgbClr val="2D82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64240" y="6473952"/>
            <a:ext cx="548640" cy="18288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r">
              <a:defRPr sz="900" b="0">
                <a:solidFill>
                  <a:srgbClr val="647382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6" name="Oval 5"/>
          <p:cNvSpPr/>
          <p:nvPr/>
        </p:nvSpPr>
        <p:spPr>
          <a:xfrm>
            <a:off x="1463040" y="1828800"/>
            <a:ext cx="640080" cy="640080"/>
          </a:xfrm>
          <a:prstGeom prst="ellipse">
            <a:avLst/>
          </a:prstGeom>
          <a:solidFill>
            <a:srgbClr val="2D82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7" name="Rectangle 6"/>
          <p:cNvSpPr/>
          <p:nvPr/>
        </p:nvSpPr>
        <p:spPr>
          <a:xfrm>
            <a:off x="2103120" y="2103120"/>
            <a:ext cx="1463040" cy="45720"/>
          </a:xfrm>
          <a:prstGeom prst="rect">
            <a:avLst/>
          </a:prstGeom>
          <a:solidFill>
            <a:srgbClr val="B4C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697480"/>
            <a:ext cx="2286000" cy="50292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ctr">
              <a:defRPr sz="1600" b="1">
                <a:solidFill>
                  <a:srgbClr val="173654"/>
                </a:solidFill>
                <a:latin typeface="Aptos"/>
              </a:defRPr>
            </a:pPr>
            <a:r>
              <a:t>Urgent email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246120"/>
            <a:ext cx="2286000" cy="132588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ctr">
              <a:defRPr sz="1300" b="0">
                <a:solidFill>
                  <a:srgbClr val="2D3741"/>
                </a:solidFill>
                <a:latin typeface="Aptos"/>
              </a:defRPr>
            </a:pPr>
            <a:r>
              <a:t>Daniel receives a message threatening mailbox suspension.</a:t>
            </a:r>
          </a:p>
        </p:txBody>
      </p:sp>
      <p:sp>
        <p:nvSpPr>
          <p:cNvPr id="10" name="Oval 9"/>
          <p:cNvSpPr/>
          <p:nvPr/>
        </p:nvSpPr>
        <p:spPr>
          <a:xfrm>
            <a:off x="4343400" y="1828800"/>
            <a:ext cx="640080" cy="640080"/>
          </a:xfrm>
          <a:prstGeom prst="ellipse">
            <a:avLst/>
          </a:prstGeom>
          <a:solidFill>
            <a:srgbClr val="2D82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983480" y="2103120"/>
            <a:ext cx="1463040" cy="45720"/>
          </a:xfrm>
          <a:prstGeom prst="rect">
            <a:avLst/>
          </a:prstGeom>
          <a:solidFill>
            <a:srgbClr val="B4C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66160" y="2697480"/>
            <a:ext cx="2286000" cy="50292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ctr">
              <a:defRPr sz="1600" b="1">
                <a:solidFill>
                  <a:srgbClr val="173654"/>
                </a:solidFill>
                <a:latin typeface="Aptos"/>
              </a:defRPr>
            </a:pPr>
            <a:r>
              <a:t>Credentials entered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0" y="3246120"/>
            <a:ext cx="2286000" cy="132588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ctr">
              <a:defRPr sz="1300" b="0">
                <a:solidFill>
                  <a:srgbClr val="2D3741"/>
                </a:solidFill>
                <a:latin typeface="Aptos"/>
              </a:defRPr>
            </a:pPr>
            <a:r>
              <a:t>He follows the link and submits his login details.</a:t>
            </a:r>
          </a:p>
        </p:txBody>
      </p:sp>
      <p:sp>
        <p:nvSpPr>
          <p:cNvPr id="14" name="Oval 13"/>
          <p:cNvSpPr/>
          <p:nvPr/>
        </p:nvSpPr>
        <p:spPr>
          <a:xfrm>
            <a:off x="7223759" y="1828800"/>
            <a:ext cx="640080" cy="640080"/>
          </a:xfrm>
          <a:prstGeom prst="ellipse">
            <a:avLst/>
          </a:prstGeom>
          <a:solidFill>
            <a:srgbClr val="2D82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863840" y="2103120"/>
            <a:ext cx="1463040" cy="45720"/>
          </a:xfrm>
          <a:prstGeom prst="rect">
            <a:avLst/>
          </a:prstGeom>
          <a:solidFill>
            <a:srgbClr val="B4C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6520" y="2697480"/>
            <a:ext cx="2286000" cy="50292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ctr">
              <a:defRPr sz="1600" b="1">
                <a:solidFill>
                  <a:srgbClr val="173654"/>
                </a:solidFill>
                <a:latin typeface="Aptos"/>
              </a:defRPr>
            </a:pPr>
            <a:r>
              <a:t>Unexpected sign-in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3246120"/>
            <a:ext cx="2286000" cy="132588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ctr">
              <a:defRPr sz="1300" b="0">
                <a:solidFill>
                  <a:srgbClr val="2D3741"/>
                </a:solidFill>
                <a:latin typeface="Aptos"/>
              </a:defRPr>
            </a:pPr>
            <a:r>
              <a:t>A sign-in notification arrives later that evening.</a:t>
            </a:r>
          </a:p>
        </p:txBody>
      </p:sp>
      <p:sp>
        <p:nvSpPr>
          <p:cNvPr id="18" name="Oval 17"/>
          <p:cNvSpPr/>
          <p:nvPr/>
        </p:nvSpPr>
        <p:spPr>
          <a:xfrm>
            <a:off x="10104119" y="1828800"/>
            <a:ext cx="640080" cy="640080"/>
          </a:xfrm>
          <a:prstGeom prst="ellipse">
            <a:avLst/>
          </a:prstGeom>
          <a:solidFill>
            <a:srgbClr val="2D82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0" y="2697480"/>
            <a:ext cx="2286000" cy="50292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ctr">
              <a:defRPr sz="1600" b="1">
                <a:solidFill>
                  <a:srgbClr val="173654"/>
                </a:solidFill>
                <a:latin typeface="Aptos"/>
              </a:defRPr>
            </a:pPr>
            <a:r>
              <a:t>Unusual messages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26880" y="3246120"/>
            <a:ext cx="2286000" cy="132588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ctr">
              <a:defRPr sz="1300" b="0">
                <a:solidFill>
                  <a:srgbClr val="2D3741"/>
                </a:solidFill>
                <a:latin typeface="Aptos"/>
              </a:defRPr>
            </a:pPr>
            <a:r>
              <a:t>Members report unexpected messages from Daniel’s account.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4400" y="4983480"/>
            <a:ext cx="10332720" cy="868680"/>
          </a:xfrm>
          <a:prstGeom prst="roundRect">
            <a:avLst/>
          </a:prstGeom>
          <a:solidFill>
            <a:srgbClr val="EFF5FA"/>
          </a:solidFill>
          <a:ln>
            <a:solidFill>
              <a:srgbClr val="DC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15568" y="5120640"/>
            <a:ext cx="9930384" cy="347472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defRPr sz="1700" b="1">
                <a:solidFill>
                  <a:srgbClr val="235274"/>
                </a:solidFill>
                <a:latin typeface="Aptos"/>
              </a:defRPr>
            </a:pPr>
            <a:r>
              <a:t>Evidence caveat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5568" y="5550408"/>
            <a:ext cx="9930384" cy="173735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defRPr sz="1300" b="0">
                <a:solidFill>
                  <a:srgbClr val="2D3741"/>
                </a:solidFill>
                <a:latin typeface="Aptos"/>
              </a:defRPr>
            </a:pPr>
            <a:r>
              <a:t>The sequence is based on the scenario; logs and timestamps are needed to verify exact access and activity.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defRPr sz="2700" b="1">
                <a:solidFill>
                  <a:srgbClr val="173654"/>
                </a:solidFill>
                <a:latin typeface="Aptos"/>
              </a:defRPr>
            </a:pPr>
            <a:r>
              <a:t>4. Digital Evidence &amp; Findings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68680"/>
            <a:ext cx="10972800" cy="36576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defRPr sz="1200" b="0">
                <a:solidFill>
                  <a:srgbClr val="647382"/>
                </a:solidFill>
                <a:latin typeface="Aptos"/>
              </a:defRPr>
            </a:pPr>
            <a:r>
              <a:t>What the clues may indicate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98448"/>
            <a:ext cx="1051560" cy="54864"/>
          </a:xfrm>
          <a:prstGeom prst="rect">
            <a:avLst/>
          </a:prstGeom>
          <a:solidFill>
            <a:srgbClr val="2D82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64240" y="6473952"/>
            <a:ext cx="548640" cy="18288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r">
              <a:defRPr sz="900" b="0">
                <a:solidFill>
                  <a:srgbClr val="647382"/>
                </a:solidFill>
                <a:latin typeface="Aptos"/>
              </a:defRPr>
            </a:pPr>
            <a:r>
              <a:t>5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691640"/>
          <a:ext cx="10744200" cy="3520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5760720"/>
                <a:gridCol w="2240280"/>
              </a:tblGrid>
              <a:tr h="88011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Evidence</a:t>
                      </a:r>
                    </a:p>
                  </a:txBody>
                  <a:tcPr marL="109728" marR="109728" marT="73152" marB="73152">
                    <a:solidFill>
                      <a:srgbClr val="17365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Possible implication</a:t>
                      </a:r>
                    </a:p>
                  </a:txBody>
                  <a:tcPr marL="109728" marR="109728" marT="73152" marB="73152">
                    <a:solidFill>
                      <a:srgbClr val="17365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Confidence</a:t>
                      </a:r>
                    </a:p>
                  </a:txBody>
                  <a:tcPr marL="109728" marR="109728" marT="73152" marB="73152">
                    <a:solidFill>
                      <a:srgbClr val="173654"/>
                    </a:solidFill>
                  </a:tcPr>
                </a:tc>
              </a:tr>
              <a:tr h="88011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D3741"/>
                          </a:solidFill>
                          <a:latin typeface="Aptos"/>
                        </a:defRPr>
                      </a:pPr>
                      <a:r>
                        <a:t>Urgent verification email</a:t>
                      </a:r>
                    </a:p>
                  </a:txBody>
                  <a:tcPr marL="109728" marR="109728" marT="73152" marB="73152">
                    <a:solidFill>
                      <a:srgbClr val="EF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D3741"/>
                          </a:solidFill>
                          <a:latin typeface="Aptos"/>
                        </a:defRPr>
                      </a:pPr>
                      <a:r>
                        <a:t>Possible phishing attempt</a:t>
                      </a:r>
                    </a:p>
                  </a:txBody>
                  <a:tcPr marL="109728" marR="109728" marT="73152" marB="73152">
                    <a:solidFill>
                      <a:srgbClr val="EF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D3741"/>
                          </a:solidFill>
                          <a:latin typeface="Aptos"/>
                        </a:defRPr>
                      </a:pPr>
                      <a:r>
                        <a:t>Medium</a:t>
                      </a:r>
                    </a:p>
                  </a:txBody>
                  <a:tcPr marL="109728" marR="109728" marT="73152" marB="73152">
                    <a:solidFill>
                      <a:srgbClr val="EFF5FA"/>
                    </a:solidFill>
                  </a:tcPr>
                </a:tc>
              </a:tr>
              <a:tr h="88011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D3741"/>
                          </a:solidFill>
                          <a:latin typeface="Aptos"/>
                        </a:defRPr>
                      </a:pPr>
                      <a:r>
                        <a:t>Unexpected sign-in notification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D3741"/>
                          </a:solidFill>
                          <a:latin typeface="Aptos"/>
                        </a:defRPr>
                      </a:pPr>
                      <a:r>
                        <a:t>Possible unauthorized access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D3741"/>
                          </a:solidFill>
                          <a:latin typeface="Aptos"/>
                        </a:defRPr>
                      </a:pPr>
                      <a:r>
                        <a:t>High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</a:tr>
              <a:tr h="88011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D3741"/>
                          </a:solidFill>
                          <a:latin typeface="Aptos"/>
                        </a:defRPr>
                      </a:pPr>
                      <a:r>
                        <a:t>Unusual messages from account</a:t>
                      </a:r>
                    </a:p>
                  </a:txBody>
                  <a:tcPr marL="109728" marR="109728" marT="73152" marB="73152">
                    <a:solidFill>
                      <a:srgbClr val="EF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D3741"/>
                          </a:solidFill>
                          <a:latin typeface="Aptos"/>
                        </a:defRPr>
                      </a:pPr>
                      <a:r>
                        <a:t>Possible unauthorized use</a:t>
                      </a:r>
                    </a:p>
                  </a:txBody>
                  <a:tcPr marL="109728" marR="109728" marT="73152" marB="73152">
                    <a:solidFill>
                      <a:srgbClr val="EF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D3741"/>
                          </a:solidFill>
                          <a:latin typeface="Aptos"/>
                        </a:defRPr>
                      </a:pPr>
                      <a:r>
                        <a:t>High</a:t>
                      </a:r>
                    </a:p>
                  </a:txBody>
                  <a:tcPr marL="109728" marR="109728" marT="73152" marB="73152">
                    <a:solidFill>
                      <a:srgbClr val="EFF5FA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822960" y="5440680"/>
            <a:ext cx="10515600" cy="777240"/>
          </a:xfrm>
          <a:prstGeom prst="roundRect">
            <a:avLst/>
          </a:prstGeom>
          <a:solidFill>
            <a:srgbClr val="EFF5FA"/>
          </a:solidFill>
          <a:ln>
            <a:solidFill>
              <a:srgbClr val="DC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4128" y="5577840"/>
            <a:ext cx="10113264" cy="347472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defRPr sz="1700" b="1">
                <a:solidFill>
                  <a:srgbClr val="235274"/>
                </a:solidFill>
                <a:latin typeface="Aptos"/>
              </a:defRPr>
            </a:pPr>
            <a:r>
              <a:t>Further evidence needed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" y="6007608"/>
            <a:ext cx="10113264" cy="82295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defRPr sz="1300" b="0">
                <a:solidFill>
                  <a:srgbClr val="2D3741"/>
                </a:solidFill>
                <a:latin typeface="Aptos"/>
              </a:defRPr>
            </a:pPr>
            <a:r>
              <a:t>Original email and headers, URL/domain details, sign-in logs, timestamps, and account activity.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defRPr sz="2700" b="1">
                <a:solidFill>
                  <a:srgbClr val="173654"/>
                </a:solidFill>
                <a:latin typeface="Aptos"/>
              </a:defRPr>
            </a:pPr>
            <a:r>
              <a:t>5. Immediate Incident Response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68680"/>
            <a:ext cx="10972800" cy="36576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defRPr sz="1200" b="0">
                <a:solidFill>
                  <a:srgbClr val="647382"/>
                </a:solidFill>
                <a:latin typeface="Aptos"/>
              </a:defRPr>
            </a:pPr>
            <a:r>
              <a:t>Contain the incident, preserve evidence, reduce harm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98448"/>
            <a:ext cx="1051560" cy="54864"/>
          </a:xfrm>
          <a:prstGeom prst="rect">
            <a:avLst/>
          </a:prstGeom>
          <a:solidFill>
            <a:srgbClr val="2D82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64240" y="6473952"/>
            <a:ext cx="548640" cy="18288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r">
              <a:defRPr sz="900" b="0">
                <a:solidFill>
                  <a:srgbClr val="647382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645920"/>
            <a:ext cx="10607040" cy="1051560"/>
          </a:xfrm>
          <a:prstGeom prst="roundRect">
            <a:avLst/>
          </a:prstGeom>
          <a:solidFill>
            <a:srgbClr val="EFF5FA"/>
          </a:solidFill>
          <a:ln>
            <a:solidFill>
              <a:srgbClr val="DC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8408" y="1783080"/>
            <a:ext cx="10204704" cy="347472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defRPr sz="1700" b="1">
                <a:solidFill>
                  <a:srgbClr val="235274"/>
                </a:solidFill>
                <a:latin typeface="Aptos"/>
              </a:defRPr>
            </a:pPr>
            <a:r>
              <a:t>1. Secure account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8408" y="2212848"/>
            <a:ext cx="10204704" cy="356615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defRPr sz="1400" b="0">
                <a:solidFill>
                  <a:srgbClr val="2D3741"/>
                </a:solidFill>
                <a:latin typeface="Aptos"/>
              </a:defRPr>
            </a:pPr>
            <a:r>
              <a:t>Change the password and review recovery settings.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3017520"/>
            <a:ext cx="10607040" cy="1051560"/>
          </a:xfrm>
          <a:prstGeom prst="roundRect">
            <a:avLst/>
          </a:prstGeom>
          <a:solidFill>
            <a:srgbClr val="F8FAFC"/>
          </a:solidFill>
          <a:ln>
            <a:solidFill>
              <a:srgbClr val="DC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78408" y="3154679"/>
            <a:ext cx="10204704" cy="347472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defRPr sz="1700" b="1">
                <a:solidFill>
                  <a:srgbClr val="235274"/>
                </a:solidFill>
                <a:latin typeface="Aptos"/>
              </a:defRPr>
            </a:pPr>
            <a:r>
              <a:t>2. Revoke sessions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" y="3584448"/>
            <a:ext cx="10204704" cy="356615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defRPr sz="1400" b="0">
                <a:solidFill>
                  <a:srgbClr val="2D3741"/>
                </a:solidFill>
                <a:latin typeface="Aptos"/>
              </a:defRPr>
            </a:pPr>
            <a:r>
              <a:t>Sign out unfamiliar sessions and review connected devices.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4389120"/>
            <a:ext cx="10607040" cy="1051560"/>
          </a:xfrm>
          <a:prstGeom prst="roundRect">
            <a:avLst/>
          </a:prstGeom>
          <a:solidFill>
            <a:srgbClr val="EFF5FA"/>
          </a:solidFill>
          <a:ln>
            <a:solidFill>
              <a:srgbClr val="DC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8408" y="4526280"/>
            <a:ext cx="10204704" cy="347472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defRPr sz="1700" b="1">
                <a:solidFill>
                  <a:srgbClr val="235274"/>
                </a:solidFill>
                <a:latin typeface="Aptos"/>
              </a:defRPr>
            </a:pPr>
            <a:r>
              <a:t>3. Notify members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78408" y="4956048"/>
            <a:ext cx="10204704" cy="356615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defRPr sz="1400" b="0">
                <a:solidFill>
                  <a:srgbClr val="2D3741"/>
                </a:solidFill>
                <a:latin typeface="Aptos"/>
              </a:defRPr>
            </a:pPr>
            <a:r>
              <a:t>Warn recipients not to click unexpected links or open suspicious attachments.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989320"/>
            <a:ext cx="10241280" cy="32004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ctr">
              <a:defRPr sz="1300" b="1">
                <a:solidFill>
                  <a:srgbClr val="235274"/>
                </a:solidFill>
                <a:latin typeface="Aptos"/>
              </a:defRPr>
            </a:pPr>
            <a:r>
              <a:t>Preserve the original email, relevant logs, and message details as early as possible.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defRPr sz="2700" b="1">
                <a:solidFill>
                  <a:srgbClr val="173654"/>
                </a:solidFill>
                <a:latin typeface="Aptos"/>
              </a:defRPr>
            </a:pPr>
            <a:r>
              <a:t>6. Preventive Controls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68680"/>
            <a:ext cx="10972800" cy="36576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defRPr sz="1200" b="0">
                <a:solidFill>
                  <a:srgbClr val="647382"/>
                </a:solidFill>
                <a:latin typeface="Aptos"/>
              </a:defRPr>
            </a:pPr>
            <a:r>
              <a:t>Reduce the likelihood and impact of future incidents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98448"/>
            <a:ext cx="1051560" cy="54864"/>
          </a:xfrm>
          <a:prstGeom prst="rect">
            <a:avLst/>
          </a:prstGeom>
          <a:solidFill>
            <a:srgbClr val="2D82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64240" y="6473952"/>
            <a:ext cx="548640" cy="18288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r">
              <a:defRPr sz="900" b="0">
                <a:solidFill>
                  <a:srgbClr val="647382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737360"/>
            <a:ext cx="3520440" cy="3383280"/>
          </a:xfrm>
          <a:prstGeom prst="roundRect">
            <a:avLst/>
          </a:prstGeom>
          <a:solidFill>
            <a:srgbClr val="EFF5FA"/>
          </a:solidFill>
          <a:ln>
            <a:solidFill>
              <a:srgbClr val="DC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1874519"/>
            <a:ext cx="3118104" cy="347472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defRPr sz="1700" b="1">
                <a:solidFill>
                  <a:srgbClr val="235274"/>
                </a:solidFill>
                <a:latin typeface="Aptos"/>
              </a:defRPr>
            </a:pPr>
            <a:r>
              <a:t>MULTI-FACTOR AUTHENTICATION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2304288"/>
            <a:ext cx="3118104" cy="2688336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defRPr sz="1500" b="0">
                <a:solidFill>
                  <a:srgbClr val="2D3741"/>
                </a:solidFill>
                <a:latin typeface="Aptos"/>
              </a:defRPr>
            </a:pPr>
            <a:r>
              <a:t>Adds another authentication factor, making a stolen password less likely to be sufficient.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737360"/>
            <a:ext cx="3520440" cy="3383280"/>
          </a:xfrm>
          <a:prstGeom prst="roundRect">
            <a:avLst/>
          </a:prstGeom>
          <a:solidFill>
            <a:srgbClr val="EFF5FA"/>
          </a:solidFill>
          <a:ln>
            <a:solidFill>
              <a:srgbClr val="DC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44568" y="1874519"/>
            <a:ext cx="3118104" cy="347472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defRPr sz="1700" b="1">
                <a:solidFill>
                  <a:srgbClr val="235274"/>
                </a:solidFill>
                <a:latin typeface="Aptos"/>
              </a:defRPr>
            </a:pPr>
            <a:r>
              <a:t>AWARENESS TRAINING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44568" y="2304288"/>
            <a:ext cx="3118104" cy="2688336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defRPr sz="1500" b="0">
                <a:solidFill>
                  <a:srgbClr val="2D3741"/>
                </a:solidFill>
                <a:latin typeface="Aptos"/>
              </a:defRPr>
            </a:pPr>
            <a:r>
              <a:t>Helps users recognize urgency tactics, suspicious links, and credential requests.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01000" y="1737360"/>
            <a:ext cx="3520440" cy="3383280"/>
          </a:xfrm>
          <a:prstGeom prst="roundRect">
            <a:avLst/>
          </a:prstGeom>
          <a:solidFill>
            <a:srgbClr val="EFF5FA"/>
          </a:solidFill>
          <a:ln>
            <a:solidFill>
              <a:srgbClr val="DC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2168" y="1874519"/>
            <a:ext cx="3118104" cy="347472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defRPr sz="1700" b="1">
                <a:solidFill>
                  <a:srgbClr val="235274"/>
                </a:solidFill>
                <a:latin typeface="Aptos"/>
              </a:defRPr>
            </a:pPr>
            <a:r>
              <a:t>LEAST PRIVILEGE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02168" y="2304288"/>
            <a:ext cx="3118104" cy="2688336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defRPr sz="1500" b="0">
                <a:solidFill>
                  <a:srgbClr val="2D3741"/>
                </a:solidFill>
                <a:latin typeface="Aptos"/>
              </a:defRPr>
            </a:pPr>
            <a:r>
              <a:t>Limits account permissions and reduces potential damage if an account is compromised.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5715000"/>
            <a:ext cx="10607040" cy="41148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ctr">
              <a:defRPr sz="1400" b="1">
                <a:solidFill>
                  <a:srgbClr val="235274"/>
                </a:solidFill>
                <a:latin typeface="Aptos"/>
              </a:defRPr>
            </a:pPr>
            <a:r>
              <a:t>Strong passwords help, but they do not prevent users being tricked into disclosing them.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defRPr sz="2700" b="1">
                <a:solidFill>
                  <a:srgbClr val="173654"/>
                </a:solidFill>
                <a:latin typeface="Aptos"/>
              </a:defRPr>
            </a:pPr>
            <a:r>
              <a:t>7. Professional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68680"/>
            <a:ext cx="10972800" cy="36576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defRPr sz="1200" b="0">
                <a:solidFill>
                  <a:srgbClr val="647382"/>
                </a:solidFill>
                <a:latin typeface="Aptos"/>
              </a:defRPr>
            </a:pPr>
            <a:r>
              <a:t>Why a strong password is not enough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98448"/>
            <a:ext cx="1051560" cy="54864"/>
          </a:xfrm>
          <a:prstGeom prst="rect">
            <a:avLst/>
          </a:prstGeom>
          <a:solidFill>
            <a:srgbClr val="2D82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64240" y="6473952"/>
            <a:ext cx="548640" cy="18288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r">
              <a:defRPr sz="900" b="0">
                <a:solidFill>
                  <a:srgbClr val="647382"/>
                </a:solidFill>
                <a:latin typeface="Aptos"/>
              </a:defRPr>
            </a:pPr>
            <a:r>
              <a:t>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5303520" cy="3474720"/>
          </a:xfrm>
          <a:prstGeom prst="roundRect">
            <a:avLst/>
          </a:prstGeom>
          <a:solidFill>
            <a:srgbClr val="EFF5FA"/>
          </a:solidFill>
          <a:ln>
            <a:solidFill>
              <a:srgbClr val="DC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828800"/>
            <a:ext cx="4901183" cy="347472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defRPr sz="1700" b="1">
                <a:solidFill>
                  <a:srgbClr val="235274"/>
                </a:solidFill>
                <a:latin typeface="Aptos"/>
              </a:defRPr>
            </a:pPr>
            <a:r>
              <a:t>STRONG PASSWORD ≠ COMPLETE SECURITY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258568"/>
            <a:ext cx="4901183" cy="2779776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defRPr sz="1700" b="0">
                <a:solidFill>
                  <a:srgbClr val="2D3741"/>
                </a:solidFill>
                <a:latin typeface="Aptos"/>
              </a:defRPr>
            </a:pPr>
            <a:r>
              <a:t>A strong password makes guessing more difficult, but phishing can still expose it. Daniel may have disclosed his password by entering it on a deceptive website.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91640"/>
            <a:ext cx="5212080" cy="3474720"/>
          </a:xfrm>
          <a:prstGeom prst="roundRect">
            <a:avLst/>
          </a:prstGeom>
          <a:solidFill>
            <a:srgbClr val="F5F8FB"/>
          </a:solidFill>
          <a:ln>
            <a:solidFill>
              <a:srgbClr val="DC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19088" y="1828800"/>
            <a:ext cx="4809744" cy="347472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defRPr sz="1700" b="1">
                <a:solidFill>
                  <a:srgbClr val="235274"/>
                </a:solidFill>
                <a:latin typeface="Aptos"/>
              </a:defRPr>
            </a:pPr>
            <a:r>
              <a:t>HUMAN BEHAVIOUR MATTERS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19088" y="2258568"/>
            <a:ext cx="4809744" cy="2779776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defRPr sz="1700" b="0">
                <a:solidFill>
                  <a:srgbClr val="2D3741"/>
                </a:solidFill>
                <a:latin typeface="Aptos"/>
              </a:defRPr>
            </a:pPr>
            <a:r>
              <a:t>Attackers can exploit fear, urgency, trust, or inattention. Users should pause, verify suspicious requests independently, and report incidents quickly.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623560"/>
            <a:ext cx="10332720" cy="41148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ctr">
              <a:defRPr sz="1500" b="1">
                <a:solidFill>
                  <a:srgbClr val="235274"/>
                </a:solidFill>
                <a:latin typeface="Aptos"/>
              </a:defRPr>
            </a:pPr>
            <a:r>
              <a:t>Additional protections: MFA and biometric authentication where supported.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365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Aptos"/>
              </a:defRPr>
            </a:pPr>
            <a:r>
              <a:t>FINAL VERDICT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" y="1554480"/>
            <a:ext cx="9875520" cy="128016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ctr">
              <a:defRPr sz="2200" b="1">
                <a:solidFill>
                  <a:srgbClr val="DCEDF5"/>
                </a:solidFill>
                <a:latin typeface="Aptos"/>
              </a:defRPr>
            </a:pPr>
            <a:r>
              <a:t>The evidence strongly suggests phishing followed by possible unauthorized account access.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3063240"/>
            <a:ext cx="9692640" cy="100584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ctr">
              <a:defRPr sz="1600" b="0">
                <a:solidFill>
                  <a:srgbClr val="FFFFFF"/>
                </a:solidFill>
                <a:latin typeface="Aptos"/>
              </a:defRPr>
            </a:pPr>
            <a:r>
              <a:t>Further investigation must confirm whether the website was malicious, who obtained or used the credentials, and what data was accessed.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800600"/>
            <a:ext cx="10332720" cy="45720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ctr">
              <a:defRPr sz="1800" b="1">
                <a:solidFill>
                  <a:srgbClr val="A0E1DC"/>
                </a:solidFill>
                <a:latin typeface="Aptos"/>
              </a:defRPr>
            </a:pPr>
            <a:r>
              <a:t>“Don’t be persuaded; verify anything suspicious before acting.”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5806440"/>
            <a:ext cx="8503920" cy="32004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ctr">
              <a:defRPr sz="1200" b="0">
                <a:solidFill>
                  <a:srgbClr val="D2E1EB"/>
                </a:solidFill>
                <a:latin typeface="Aptos"/>
              </a:defRPr>
            </a:pPr>
            <a:r>
              <a:t>Abidoye Temitayo  •  Intro to Cybersecurity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defRPr sz="2700" b="1">
                <a:solidFill>
                  <a:srgbClr val="173654"/>
                </a:solidFill>
                <a:latin typeface="Aptos"/>
              </a:defRPr>
            </a:pPr>
            <a:r>
              <a:t>Pair Review &amp; Key Lesson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68680"/>
            <a:ext cx="10972800" cy="36576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defRPr sz="1200" b="0">
                <a:solidFill>
                  <a:srgbClr val="647382"/>
                </a:solidFill>
                <a:latin typeface="Aptos"/>
              </a:defRPr>
            </a:pPr>
            <a:r>
              <a:t>Part C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98448"/>
            <a:ext cx="1051560" cy="54864"/>
          </a:xfrm>
          <a:prstGeom prst="rect">
            <a:avLst/>
          </a:prstGeom>
          <a:solidFill>
            <a:srgbClr val="2D82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64240" y="6473952"/>
            <a:ext cx="548640" cy="18288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r">
              <a:defRPr sz="900" b="0">
                <a:solidFill>
                  <a:srgbClr val="647382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3474720" cy="3383280"/>
          </a:xfrm>
          <a:prstGeom prst="roundRect">
            <a:avLst/>
          </a:prstGeom>
          <a:solidFill>
            <a:srgbClr val="EFF5FA"/>
          </a:solidFill>
          <a:ln>
            <a:solidFill>
              <a:srgbClr val="DC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828800"/>
            <a:ext cx="3072384" cy="347472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defRPr sz="1700" b="1">
                <a:solidFill>
                  <a:srgbClr val="235274"/>
                </a:solidFill>
                <a:latin typeface="Aptos"/>
              </a:defRPr>
            </a:pPr>
            <a:r>
              <a:t>AGREEMENT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258568"/>
            <a:ext cx="3072384" cy="2688336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defRPr sz="1500" b="0">
                <a:solidFill>
                  <a:srgbClr val="2D3741"/>
                </a:solidFill>
                <a:latin typeface="Aptos"/>
              </a:defRPr>
            </a:pPr>
            <a:r>
              <a:t>The incident was likely a phishing attack carried out through social engineering.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691640"/>
            <a:ext cx="3474720" cy="3383280"/>
          </a:xfrm>
          <a:prstGeom prst="roundRect">
            <a:avLst/>
          </a:prstGeom>
          <a:solidFill>
            <a:srgbClr val="EFF5FA"/>
          </a:solidFill>
          <a:ln>
            <a:solidFill>
              <a:srgbClr val="DC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44568" y="1828800"/>
            <a:ext cx="3072384" cy="347472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defRPr sz="1700" b="1">
                <a:solidFill>
                  <a:srgbClr val="235274"/>
                </a:solidFill>
                <a:latin typeface="Aptos"/>
              </a:defRPr>
            </a:pPr>
            <a:r>
              <a:t>DIFFERENCE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44568" y="2258568"/>
            <a:ext cx="3072384" cy="2688336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defRPr sz="1500" b="0">
                <a:solidFill>
                  <a:srgbClr val="2D3741"/>
                </a:solidFill>
                <a:latin typeface="Aptos"/>
              </a:defRPr>
            </a:pPr>
            <a:r>
              <a:t>Whether the website was definitely malicious or required further investigation.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55279" y="1691640"/>
            <a:ext cx="3474720" cy="3383280"/>
          </a:xfrm>
          <a:prstGeom prst="roundRect">
            <a:avLst/>
          </a:prstGeom>
          <a:solidFill>
            <a:srgbClr val="EFF5FA"/>
          </a:solidFill>
          <a:ln>
            <a:solidFill>
              <a:srgbClr val="DC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56448" y="1828800"/>
            <a:ext cx="3072384" cy="347472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defRPr sz="1700" b="1">
                <a:solidFill>
                  <a:srgbClr val="235274"/>
                </a:solidFill>
                <a:latin typeface="Aptos"/>
              </a:defRPr>
            </a:pPr>
            <a:r>
              <a:t>PRACTICAL LESSON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56448" y="2258568"/>
            <a:ext cx="3072384" cy="2688336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defRPr sz="1500" b="0">
                <a:solidFill>
                  <a:srgbClr val="2D3741"/>
                </a:solidFill>
                <a:latin typeface="Aptos"/>
              </a:defRPr>
            </a:pPr>
            <a:r>
              <a:t>Do not make assumptions without evidence. Verify suspicious information before acting.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715000"/>
            <a:ext cx="10332720" cy="41148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ctr">
              <a:defRPr sz="2100" b="1">
                <a:solidFill>
                  <a:srgbClr val="173654"/>
                </a:solidFill>
                <a:latin typeface="Aptos"/>
              </a:defRPr>
            </a:pPr>
            <a: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